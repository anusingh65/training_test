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  <a:latin typeface="Calibri"/>
              </a:rPr>
              <a:t>TEAM CODE DIGGERS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8FAFC"/>
                </a:solidFill>
                <a:latin typeface="Georgia"/>
              </a:rPr>
              <a:t>MediChain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  <a:latin typeface="Calibri"/>
              </a:rPr>
              <a:t>Blockchain + AI System for Counterfeit Drug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92608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1A2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971800"/>
            <a:ext cx="381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035808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94A3B8"/>
                </a:solidFill>
                <a:latin typeface="Calibri"/>
              </a:rPr>
              <a:t>“Design a blockchain-based drug traceability platform where each medicine strip is verified through a unique QR code, with AI models analyzing scan patterns to predict high-risk counterfeiting zones.”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EF4444"/>
                </a:solidFill>
                <a:latin typeface="Georgia"/>
              </a:rPr>
              <a:t>1M+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DEATHS PER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59E0B"/>
                </a:solidFill>
                <a:latin typeface="Georgia"/>
              </a:rPr>
              <a:t>$200B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LOST ANNUALLY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B923C"/>
                </a:solidFill>
                <a:latin typeface="Georgia"/>
              </a:rPr>
              <a:t>10–30%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DRUGS ARE FAKE (WHO)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THE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8FAFC"/>
                </a:solidFill>
                <a:latin typeface="Georgia"/>
              </a:rPr>
              <a:t>The System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94A3B8"/>
                </a:solidFill>
                <a:latin typeface="Calibri"/>
              </a:rPr>
              <a:t>India is the world’s 3rd largest pharmaceutical producer — yet $4.1B is lost annually to counterfeits. There are zero real-time tracking systems. Patients die. Pharmacies lose trust. Criminals go undetected.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2563EB"/>
                </a:solidFill>
                <a:latin typeface="Georgia"/>
              </a:rPr>
              <a:t>3rd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LARGEST PHARMA PRODUCER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EF4444"/>
                </a:solidFill>
                <a:latin typeface="Georgia"/>
              </a:rPr>
              <a:t>$4.1B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LOST TO COUNTERFEITS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59E0B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REAL-TIME TRACKING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096512"/>
            <a:ext cx="274320" cy="274320"/>
          </a:xfrm>
          <a:prstGeom prst="ellipse">
            <a:avLst/>
          </a:prstGeom>
          <a:solidFill>
            <a:srgbClr val="2D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096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050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Opaque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519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 visibility into where a drug has been or who handled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4096512"/>
            <a:ext cx="274320" cy="274320"/>
          </a:xfrm>
          <a:prstGeom prst="ellipse">
            <a:avLst/>
          </a:prstGeom>
          <a:solidFill>
            <a:srgbClr val="2D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096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050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Reactive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519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Counterfeits discovered only AFTER patients are harmed.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919472"/>
            <a:ext cx="274320" cy="274320"/>
          </a:xfrm>
          <a:prstGeom prst="ellipse">
            <a:avLst/>
          </a:prstGeom>
          <a:solidFill>
            <a:srgbClr val="2D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919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28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No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74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Cannot identify risk zones before outbreaks happen.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75488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4919472"/>
            <a:ext cx="274320" cy="274320"/>
          </a:xfrm>
          <a:prstGeom prst="ellipse">
            <a:avLst/>
          </a:prstGeom>
          <a:solidFill>
            <a:srgbClr val="2D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919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828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Paper-Based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074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Documents easily forged. Impossible to audit at scale.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8FAFC"/>
                </a:solidFill>
                <a:latin typeface="Georgia"/>
              </a:rPr>
              <a:t>Not Just QR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94A3B8"/>
                </a:solidFill>
                <a:latin typeface="Calibri"/>
              </a:rPr>
              <a:t>Every team will put a QR code on a pill. That’s the baseline. The real question: what happens when the counterfeiter is smarter than your QR code?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2743200"/>
            <a:ext cx="320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23160" y="2971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9900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Calibri"/>
              </a:rPr>
              <a:t>Blockchain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Every medicine registered on Ethereum. Every transfer recorded permanently. 3 smart contracts enforce supply chain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74320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2743200"/>
            <a:ext cx="32004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80760" y="2971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9900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Calibri"/>
              </a:rPr>
              <a:t>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840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Unsupervised anomaly detection catches counterfeits without needing labeled examples. Predictive heatmap forecasts risk zones.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743200"/>
            <a:ext cx="3291840" cy="201168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2743200"/>
            <a:ext cx="3200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38360" y="2971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9900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FAFC"/>
                </a:solidFill>
                <a:latin typeface="Calibri"/>
              </a:rPr>
              <a:t>Government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840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Heatmap feeds CDSCO in real-time. Raid data feeds back as ground truth. The system gets smarter with every enforcement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029200"/>
            <a:ext cx="9144000" cy="640080"/>
          </a:xfrm>
          <a:prstGeom prst="roundRect">
            <a:avLst>
              <a:gd name="adj" fmla="val 5000"/>
            </a:avLst>
          </a:prstGeom>
          <a:solidFill>
            <a:srgbClr val="121428"/>
          </a:solidFill>
          <a:ln w="12700">
            <a:solidFill>
              <a:srgbClr val="2A2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0" y="5074920"/>
            <a:ext cx="381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513892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We don’t just verify — we predict. Our AI tells you where counterfeits will appear next week, not where they were found yesterday.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8FAFC"/>
                </a:solidFill>
                <a:latin typeface="Georgia"/>
              </a:rPr>
              <a:t>Architecture &amp;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AI MODEL 1 — ANOMALY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208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58568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Unsupervised ML. Trains on normal supply chain data only. No labeled counterfeit examples needed — isolates anomalies by how few random splits it takes to separate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52928"/>
            <a:ext cx="381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62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Autoencoder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99816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Neural network trained to reconstruct normal transactions. When reconstruction error is high, the transaction doesn’t match learned patterns → anomaly.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48456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94176"/>
            <a:ext cx="381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03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6 Domain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941064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Velocity &gt; 500 km/h, path deviation, &gt;5 transfers, 2–5am weekend timing, batch contamination &gt;10%, low actor reputation.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3542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12 ENGINEERED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9744"/>
            <a:ext cx="932688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28032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Velocity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4809744"/>
            <a:ext cx="1261872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828032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Transit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9504" y="4809744"/>
            <a:ext cx="1426464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9504" y="482803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Transfer 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809744"/>
            <a:ext cx="1426464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82803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Path Deviation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02352"/>
            <a:ext cx="1426464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Scan Frequency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48256" y="5102352"/>
            <a:ext cx="1426464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48256" y="512064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Unique Devices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47872" y="5102352"/>
            <a:ext cx="1179576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5120640"/>
            <a:ext cx="1179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Hour of 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60"/>
            <a:ext cx="1097280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13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Is Weekend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19072" y="5394960"/>
            <a:ext cx="1426464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19072" y="541324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Days Since Mfg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18688" y="5394960"/>
            <a:ext cx="1508760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8688" y="54132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Batch Flag 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687568"/>
            <a:ext cx="1591056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705856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Actor Reputation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12848" y="5687568"/>
            <a:ext cx="1508760" cy="256032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 w="12700">
            <a:solidFill>
              <a:srgbClr val="1A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12848" y="570585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B82F6"/>
                </a:solidFill>
                <a:latin typeface="Calibri"/>
              </a:rPr>
              <a:t>Geo Consistency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645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AI MODEL 2 — PREDICTIVE HEATMAP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196596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2011680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20208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DBSCAN Clustering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2258568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Groups flagged scans by geographic proximity (~5km radius). Identifies emerging hotspot clusters in real-time.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2807208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2852928"/>
            <a:ext cx="381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2862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Time Decay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3099816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7-day exponential half-life. A 2-week-old flag counts for 25% intensity. Heatmap always reflects current threat landscape.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648456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3694176"/>
            <a:ext cx="381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82512" y="3703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Trend Prediction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3941064"/>
            <a:ext cx="5029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Linear regression on weekly cluster snapshots. Extrapolates 2 weeks ahead. Alerts if any cluster is predicted to double in size.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453542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TRUST SCORE — 0 TO 100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809744"/>
            <a:ext cx="2386584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4846320"/>
            <a:ext cx="2386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A"/>
                </a:solidFill>
                <a:latin typeface="Calibri"/>
              </a:rPr>
              <a:t>Anomaly 45%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04504" y="4809744"/>
            <a:ext cx="21214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04504" y="4846320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Heatmap 40%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725912" y="4809744"/>
            <a:ext cx="795528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5912" y="4846320"/>
            <a:ext cx="7955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A"/>
                </a:solidFill>
                <a:latin typeface="Calibri"/>
              </a:rPr>
              <a:t>Ext 15%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5266944"/>
            <a:ext cx="1188720" cy="502920"/>
          </a:xfrm>
          <a:prstGeom prst="roundRect">
            <a:avLst>
              <a:gd name="adj" fmla="val 5000"/>
            </a:avLst>
          </a:prstGeom>
          <a:solidFill>
            <a:srgbClr val="021E15"/>
          </a:solidFill>
          <a:ln w="12700">
            <a:solidFill>
              <a:srgbClr val="05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321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  <a:latin typeface="Georgia"/>
              </a:rPr>
              <a:t>80–100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5595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SAFE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25512" y="5266944"/>
            <a:ext cx="1188720" cy="502920"/>
          </a:xfrm>
          <a:prstGeom prst="roundRect">
            <a:avLst>
              <a:gd name="adj" fmla="val 5000"/>
            </a:avLst>
          </a:prstGeom>
          <a:solidFill>
            <a:srgbClr val="281A01"/>
          </a:solidFill>
          <a:ln w="12700">
            <a:solidFill>
              <a:srgbClr val="5134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25512" y="5321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  <a:latin typeface="Georgia"/>
              </a:rPr>
              <a:t>50–79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5512" y="55595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WARNING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833104" y="5266944"/>
            <a:ext cx="1188720" cy="502920"/>
          </a:xfrm>
          <a:prstGeom prst="roundRect">
            <a:avLst>
              <a:gd name="adj" fmla="val 5000"/>
            </a:avLst>
          </a:prstGeom>
          <a:solidFill>
            <a:srgbClr val="29180A"/>
          </a:solidFill>
          <a:ln w="12700">
            <a:solidFill>
              <a:srgbClr val="533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33104" y="5321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B923C"/>
                </a:solidFill>
                <a:latin typeface="Georgia"/>
              </a:rPr>
              <a:t>20–49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33104" y="55595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B923C"/>
                </a:solidFill>
                <a:latin typeface="Calibri"/>
              </a:rPr>
              <a:t>AUTO-FLAG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40696" y="5266944"/>
            <a:ext cx="1188720" cy="502920"/>
          </a:xfrm>
          <a:prstGeom prst="roundRect">
            <a:avLst>
              <a:gd name="adj" fmla="val 5000"/>
            </a:avLst>
          </a:prstGeom>
          <a:solidFill>
            <a:srgbClr val="270B0B"/>
          </a:solidFill>
          <a:ln w="12700">
            <a:solidFill>
              <a:srgbClr val="4F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40696" y="5321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4444"/>
                </a:solidFill>
                <a:latin typeface="Georgia"/>
              </a:rPr>
              <a:t>0–19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0696" y="55595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EF4444"/>
                </a:solidFill>
                <a:latin typeface="Calibri"/>
              </a:rPr>
              <a:t>CRITICAL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WHAT MAKES US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8FAFC"/>
                </a:solidFill>
                <a:latin typeface="Georgia"/>
              </a:rPr>
              <a:t>Innovation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94A3B8"/>
                </a:solidFill>
                <a:latin typeface="Calibri"/>
              </a:rPr>
              <a:t>Every team here will build QR + blockchain verification. Here’s what we built on top of that.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2560320"/>
            <a:ext cx="3145536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Semi-Supervised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99232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Our AI trains on normal behavior only. No labeled counterfeit data needed — which doesn’t exist anyway. Catches anomalies nobody programmed it to look for. Deployable from day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56032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28032" y="2560320"/>
            <a:ext cx="3145536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Predictive, Not Reactive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99232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Our heatmap doesn’t show where counterfeits were found. It predicts where they’ll appear 2 weeks from now. DBSCAN clustering + linear regression on weekly snapshots = proactive enforcement.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560320"/>
            <a:ext cx="3291840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85632" y="2560320"/>
            <a:ext cx="3145536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697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Self-Improving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999232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Government raids → confirmed seizure locations → ground truth training data → model retrains → better predictions. Closed feedback loop. Gets smarter with every enforcement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70832"/>
            <a:ext cx="38100" cy="8595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Patient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Counterfeit antibiotics drive antimicrobial resistance — 700K+ deaths/year from AMR globally. MediChain gives every patient instant verification before they take a single pill.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370832"/>
            <a:ext cx="38100" cy="8595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34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Economic Justice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Rural pharmacies bear the blame for counterfeits they unknowingly stock. Real-time verification protects honest businesses and keeps local economies alive.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559552"/>
            <a:ext cx="38100" cy="8595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Public Health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25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Every scan adds to India’s first real-time pharmaceutical quality map. Outbreaks caught in days, not months. Government gets data, not quarterly reports.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48640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5559552"/>
            <a:ext cx="38100" cy="8595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623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Calibri"/>
              </a:rPr>
              <a:t>Trust in Healthcare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925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When patients doubt their medicine, they stop taking it. Verified drugs restore faith in the healthcare system — especially in underserved rural communities.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8FAFC"/>
                </a:solidFill>
                <a:latin typeface="Georgia"/>
              </a:rPr>
              <a:t>How We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49377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Per Badge — ₹5–10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Manufacturer pays per medicine unit. Covers QR generation + blockchain registration. One-time cost at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49377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Per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Verification fee per scan. India dispenses 30B drug units/year. Even 0.1% adoption = 30M scans/year.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02920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0682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QR codes are already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44568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95% smartphone penetration in urban India. UPI payments made QR scanning second nature.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56632"/>
            <a:ext cx="5029200" cy="777240"/>
          </a:xfrm>
          <a:prstGeom prst="roundRect">
            <a:avLst>
              <a:gd name="adj" fmla="val 5000"/>
            </a:avLst>
          </a:prstGeom>
          <a:solidFill>
            <a:srgbClr val="14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102352"/>
            <a:ext cx="381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1114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Zero friction for manufacturers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49240"/>
            <a:ext cx="4754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Blister pack printing machines already exist (Domino, Videojet). Same surface already printed with batch/expiry.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  <a:latin typeface="Georgia"/>
              </a:rPr>
              <a:t>Cost Per Unit Comparison (INR)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675888"/>
            <a:ext cx="109728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886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MediChain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6758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₹7.5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194560"/>
            <a:ext cx="109728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886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Paper 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1945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₹75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48056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10152B"/>
          </a:solidFill>
          <a:ln w="12700">
            <a:solidFill>
              <a:srgbClr val="1E2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FAFC"/>
                </a:solidFill>
                <a:latin typeface="Calibri"/>
              </a:rPr>
              <a:t>We don’t sell QR codes. We sell trust.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Every scan is proof that the drug is real, living permanently on the blockchain.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Team Code Diggers — MediChain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8FAFC"/>
                </a:solidFill>
                <a:latin typeface="Georgia"/>
              </a:rPr>
              <a:t>48-Hour Build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94A3B8"/>
                </a:solidFill>
                <a:latin typeface="Calibri"/>
              </a:rPr>
              <a:t>Three-day hackathon sprint from concept to deployed prototype. Feb 13–15,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57860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B82F6"/>
                </a:solidFill>
                <a:latin typeface="Calibri"/>
              </a:rPr>
              <a:t>FEB 13 • 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Scaffolding &amp;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Monorepo setup, PharmaChain.sol — registration, custody, verification, flagging.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4688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57860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B82F6"/>
                </a:solidFill>
                <a:latin typeface="Calibri"/>
              </a:rPr>
              <a:t>FEB 13 • 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Dashboard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Next.js 14 + Tailwind. 6 pages: Overview, Drugs, Heatmap, Alerts, Analytics, Register.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4688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257860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18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5603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B5CF6"/>
                </a:solidFill>
                <a:latin typeface="Calibri"/>
              </a:rPr>
              <a:t>FEB 14 •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Mock Data &amp; Polish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Full demo mode, animated SVGs, count-up animations, skeleton loading.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46888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257860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08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5603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FEB 15 • 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834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Integration &amp;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E2E flow testing, contract deploy to Sepolia ETH, demo prep.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94760"/>
            <a:ext cx="3657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3794760"/>
            <a:ext cx="3657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794760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4632" y="374980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52174" y="374980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19717" y="374980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87260" y="374980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4803" y="374980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2346" y="374980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89889" y="374980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57432" y="374980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411480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5800" y="422452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0E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2062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B82F6"/>
                </a:solidFill>
                <a:latin typeface="Calibri"/>
              </a:rPr>
              <a:t>FEB 13 • 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480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AI &amp; ML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FastAPI with Isolation Forest, Autoencoder &amp; DBSCAN heatmap. 60K synthetic records.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11480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429000" y="422452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18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42062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B5CF6"/>
                </a:solidFill>
                <a:latin typeface="Calibri"/>
              </a:rPr>
              <a:t>FEB 14 • 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480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Flutter Mobile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Consumer &amp; commuter flows, QR scanning, blockchain verify, Riverpod.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411480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72200" y="422452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18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2062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B5CF6"/>
                </a:solidFill>
                <a:latin typeface="Calibri"/>
              </a:rPr>
              <a:t>FEB 14 • EVE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4480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Landing Page &amp; Auth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9 animated SVG components, marketing site, sign-in &amp; sign-up.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0" y="411480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A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15400" y="4224528"/>
            <a:ext cx="1280160" cy="201168"/>
          </a:xfrm>
          <a:prstGeom prst="roundRect">
            <a:avLst>
              <a:gd name="adj" fmla="val 5000"/>
            </a:avLst>
          </a:prstGeom>
          <a:solidFill>
            <a:srgbClr val="08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42062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FEB 15 • PM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4480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Calibri"/>
              </a:rPr>
              <a:t>Final Demo &amp; Submit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4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Live demo: register → scan → verify → flag → alert. Deck done.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—— Day 1 — Feb 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—— Day 2 — Feb 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—— Day 3 — Feb 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